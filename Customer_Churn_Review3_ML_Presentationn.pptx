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731520"/>
            <a:ext cx="1828800" cy="1828800"/>
          </a:xfrm>
          <a:prstGeom prst="ellipse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2194560"/>
            <a:ext cx="1143000" cy="1143000"/>
          </a:xfrm>
          <a:prstGeom prst="ellipse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2926080"/>
            <a:ext cx="777240" cy="777240"/>
          </a:xfrm>
          <a:prstGeom prst="ellipse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49840" y="3886200"/>
            <a:ext cx="1645920" cy="1645920"/>
          </a:xfrm>
          <a:prstGeom prst="ellipse">
            <a:avLst/>
          </a:prstGeom>
          <a:solidFill>
            <a:srgbClr val="2A4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69494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77DDD2"/>
                </a:solidFill>
                <a:latin typeface="Aptos"/>
              </a:defRPr>
            </a:pPr>
            <a:r>
              <a:t>ENGINEERING CAPSTONE PROJECT – 1  |  REVIEW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7132320" cy="1371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CUSTOMER CHURN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63240"/>
            <a:ext cx="64008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6E1F0"/>
                </a:solidFill>
                <a:latin typeface="Aptos"/>
              </a:defRPr>
            </a:pPr>
            <a:r>
              <a:t>Machine Learning: data preparation, statistical checks,</a:t>
            </a:r>
          </a:p>
          <a:p>
            <a:pPr>
              <a:spcAft>
                <a:spcPts val="500"/>
              </a:spcAft>
              <a:defRPr sz="1800" b="0">
                <a:solidFill>
                  <a:srgbClr val="D6E1F0"/>
                </a:solidFill>
                <a:latin typeface="Aptos"/>
              </a:defRPr>
            </a:pPr>
            <a:r>
              <a:t>model building and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251960"/>
            <a:ext cx="6309360" cy="1078992"/>
          </a:xfrm>
          <a:prstGeom prst="roundRect">
            <a:avLst>
              <a:gd name="adj" fmla="val 12000"/>
            </a:avLst>
          </a:prstGeom>
          <a:solidFill>
            <a:srgbClr val="1E304C"/>
          </a:solidFill>
          <a:ln>
            <a:solidFill>
              <a:srgbClr val="3A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407408"/>
            <a:ext cx="58521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PROJECT TEAM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S. Vaishnavi  •  Madhu  •  Hema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Guide: Dr. Shivashri  |  A.Y.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172200"/>
            <a:ext cx="6126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ABBCD3"/>
                </a:solidFill>
                <a:latin typeface="Aptos"/>
              </a:defRPr>
            </a:pPr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Review 3: What the ML pipeline must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94" y="145367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563624"/>
            <a:ext cx="64008" cy="112471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563624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01 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84248"/>
            <a:ext cx="3721608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rPr sz="1000" dirty="0"/>
              <a:t>Identify feature names, data types, target variable and class balance.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1732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563624"/>
            <a:ext cx="64008" cy="1124712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563624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02  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2" y="1975104"/>
            <a:ext cx="3026667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rPr sz="1000" dirty="0"/>
              <a:t>Clean missing values, encode categories, check distribution and outliers.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41732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7575" y="1563624"/>
            <a:ext cx="64008" cy="1124712"/>
          </a:xfrm>
          <a:prstGeom prst="rect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1563624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03  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3" y="1984248"/>
            <a:ext cx="4571565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rPr dirty="0"/>
              <a:t>Train classifiers and compare metrics before selecting a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10698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4223A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13202194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283446"/>
                </a:solidFill>
                <a:latin typeface="Aptos"/>
              </a:defRPr>
            </a:pPr>
            <a:r>
              <a:rPr sz="1600" dirty="0"/>
              <a:t>Can customer information help us identify customers who are likely to leave, early enough for a retention team to act?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00600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983480"/>
            <a:ext cx="10241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Important: replace dataset-specific examples and metric placeholders with outputs from your actual CSV and notebook.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Dataset and target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64008" cy="10789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17904"/>
            <a:ext cx="4937759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23A"/>
                </a:solidFill>
                <a:latin typeface="Aptos"/>
              </a:defRPr>
            </a:pPr>
            <a:r>
              <a:t>Prediction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4937759" cy="91307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rPr dirty="0"/>
              <a:t>Churn (binary classification)</a:t>
            </a:r>
          </a:p>
          <a:p>
            <a:pPr>
              <a:spcAft>
                <a:spcPts val="5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rPr dirty="0"/>
              <a:t>• Yes = customer left</a:t>
            </a:r>
          </a:p>
          <a:p>
            <a:pPr>
              <a:spcAft>
                <a:spcPts val="500"/>
              </a:spcAft>
              <a:defRPr sz="1500" b="0">
                <a:solidFill>
                  <a:srgbClr val="283446"/>
                </a:solidFill>
                <a:latin typeface="Aptos"/>
              </a:defRPr>
            </a:pPr>
            <a:r>
              <a:rPr dirty="0"/>
              <a:t>• No = customer stayed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17904"/>
            <a:ext cx="64008" cy="1078992"/>
          </a:xfrm>
          <a:prstGeom prst="rect">
            <a:avLst/>
          </a:prstGeom>
          <a:solidFill>
            <a:srgbClr val="ED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17904"/>
            <a:ext cx="4937759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Dataset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38528"/>
            <a:ext cx="4937759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rPr sz="1000" dirty="0"/>
              <a:t>The original project slides do not specify the exact CSV or its columns. The feature examples below match a typical customer-churn dataset; verify them against your 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27248"/>
            <a:ext cx="10607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23A"/>
                </a:solidFill>
                <a:latin typeface="Aptos"/>
              </a:defRPr>
            </a:pPr>
            <a:r>
              <a:t>Example feature groups to identify in the real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803904"/>
            <a:ext cx="64008" cy="1033271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803904"/>
            <a:ext cx="22402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Customer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7" y="4224528"/>
            <a:ext cx="2135633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rPr dirty="0"/>
              <a:t>gender, SeniorCitizen, Partner, Dependents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38728" y="36576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38728" y="3803904"/>
            <a:ext cx="64008" cy="1033271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9896" y="3803904"/>
            <a:ext cx="22402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Account &amp;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9895" y="4224528"/>
            <a:ext cx="2039111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tenure, Contract, InternetService, PhoneService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91656" y="36576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91656" y="3803904"/>
            <a:ext cx="64008" cy="1033271"/>
          </a:xfrm>
          <a:prstGeom prst="rect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92824" y="3803904"/>
            <a:ext cx="22402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2823" y="4224528"/>
            <a:ext cx="3982043" cy="2154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rPr sz="800" dirty="0" err="1"/>
              <a:t>MonthlyCharges</a:t>
            </a:r>
            <a:r>
              <a:rPr sz="800" dirty="0"/>
              <a:t>, </a:t>
            </a:r>
            <a:r>
              <a:rPr sz="800" dirty="0" err="1"/>
              <a:t>TotalCharges</a:t>
            </a:r>
            <a:r>
              <a:rPr sz="800" dirty="0"/>
              <a:t>, </a:t>
            </a:r>
            <a:r>
              <a:rPr sz="800" dirty="0" err="1"/>
              <a:t>PaymentMethod</a:t>
            </a:r>
            <a:endParaRPr sz="800" dirty="0"/>
          </a:p>
        </p:txBody>
      </p:sp>
      <p:sp>
        <p:nvSpPr>
          <p:cNvPr id="28" name="Rounded Rectangle 27"/>
          <p:cNvSpPr/>
          <p:nvPr/>
        </p:nvSpPr>
        <p:spPr>
          <a:xfrm>
            <a:off x="9244584" y="3657600"/>
            <a:ext cx="26060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44584" y="3803904"/>
            <a:ext cx="64008" cy="1033271"/>
          </a:xfrm>
          <a:prstGeom prst="rect">
            <a:avLst/>
          </a:prstGeom>
          <a:solidFill>
            <a:srgbClr val="ED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3803904"/>
            <a:ext cx="22402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4224528"/>
            <a:ext cx="2240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rPr dirty="0"/>
              <a:t>Churn: Yes / 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40680"/>
            <a:ext cx="104241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C80"/>
                </a:solidFill>
                <a:latin typeface="Aptos"/>
              </a:defRPr>
            </a:pPr>
            <a:r>
              <a:t>Before modelling: print df.shape, df.head(), df.info(), df.describe(include='all') and df['Churn'].value_counts().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Data types: map every feature before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10789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83446"/>
                </a:solidFill>
                <a:latin typeface="Aptos"/>
              </a:defRPr>
            </a:pPr>
            <a:r>
              <a:t>Use df.dtypes and the data dictionary to create a final feature inventory.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2057400" cy="438912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865376"/>
            <a:ext cx="1920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Feature 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783080"/>
            <a:ext cx="2743200" cy="438912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6352" y="1865376"/>
            <a:ext cx="2606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Likely data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783080"/>
            <a:ext cx="5943600" cy="438912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1865376"/>
            <a:ext cx="58064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Action / reason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221991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295144"/>
            <a:ext cx="19202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customerID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221991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295144"/>
            <a:ext cx="2606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Identifier / string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221991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59552" y="2295144"/>
            <a:ext cx="58064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Drop from predictors; not a meaningful churn 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724911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2798063"/>
            <a:ext cx="19202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SeniorCitizen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724911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16352" y="2798063"/>
            <a:ext cx="2606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Binary numeric (0/1)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724911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59552" y="2798063"/>
            <a:ext cx="58064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Keep as binary feature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227832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3300984"/>
            <a:ext cx="19202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tenure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227832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16352" y="3300984"/>
            <a:ext cx="2606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Integer / numeric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227832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59552" y="3300984"/>
            <a:ext cx="58064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Check range; scale for distance/linear models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730752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3803904"/>
            <a:ext cx="19202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MonthlyCharges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730752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16352" y="3803904"/>
            <a:ext cx="2606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Continuous numeric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3730752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59552" y="3803904"/>
            <a:ext cx="58064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Check distribution and outliers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33672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" y="4306824"/>
            <a:ext cx="19202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TotalCharges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233672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16352" y="4306824"/>
            <a:ext cx="2606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Numeric stored as text in some CSVs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33672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59552" y="4306824"/>
            <a:ext cx="58064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Convert to numeric; invalid blanks become missing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736592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" y="4809744"/>
            <a:ext cx="19202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Contract, PaymentMethod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736592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16352" y="4809744"/>
            <a:ext cx="2606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Categorical / nominal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4736592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59552" y="4809744"/>
            <a:ext cx="58064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One-hot encode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5239512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8952" y="5312664"/>
            <a:ext cx="19202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Churn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5239512"/>
            <a:ext cx="2743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816352" y="5312664"/>
            <a:ext cx="2606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Categorical target (Yes/No)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5239512"/>
            <a:ext cx="5943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59552" y="5312664"/>
            <a:ext cx="58064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Encode as 1/0; never scale target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5989320"/>
            <a:ext cx="105156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D35757"/>
                </a:solidFill>
                <a:latin typeface="Aptos"/>
              </a:defRPr>
            </a:pPr>
            <a:r>
              <a:t>These are examples, not verified columns. Keep only fields present in the actual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Data cleaning: make records model-ready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64008" cy="1216151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17904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23A"/>
                </a:solidFill>
                <a:latin typeface="Aptos"/>
              </a:defRPr>
            </a:pPr>
            <a:r>
              <a:t>1  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15468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Numeric: median imputation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Categorical: most-frequent value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Report missing count before/after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37160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517904"/>
            <a:ext cx="64008" cy="1216151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517904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23A"/>
                </a:solidFill>
                <a:latin typeface="Aptos"/>
              </a:defRPr>
            </a:pPr>
            <a:r>
              <a:t>2  Duplicates &amp;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38528"/>
            <a:ext cx="315468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Check duplicate rows / IDs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Convert TotalCharges to numeric if needed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Validate target labels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371600"/>
            <a:ext cx="35204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10144" y="1517904"/>
            <a:ext cx="64008" cy="1216151"/>
          </a:xfrm>
          <a:prstGeom prst="rect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517904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23A"/>
                </a:solidFill>
                <a:latin typeface="Aptos"/>
              </a:defRPr>
            </a:pPr>
            <a:r>
              <a:t>3  Data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15468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Remove customer ID from predictors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Split train/test before fitting imputers or scalers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Fit transformations on train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383280"/>
            <a:ext cx="10515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23A"/>
                </a:solidFill>
                <a:latin typeface="Aptos"/>
              </a:defRPr>
            </a:pPr>
            <a:r>
              <a:t>Evidence to show in the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22191"/>
            <a:ext cx="10149840" cy="1417320"/>
          </a:xfrm>
          <a:prstGeom prst="rect">
            <a:avLst/>
          </a:prstGeom>
          <a:noFill/>
        </p:spPr>
        <p:txBody>
          <a:bodyPr wrap="none" lIns="45720" tIns="36576" rIns="45720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3446"/>
                </a:solidFill>
                <a:latin typeface="Aptos"/>
              </a:defRPr>
            </a:pPr>
            <a:r>
              <a:t>•  Missing-value count per column before and after cleaning.</a:t>
            </a:r>
          </a:p>
          <a:p>
            <a:pPr>
              <a:spcAft>
                <a:spcPts val="700"/>
              </a:spcAft>
              <a:defRPr sz="1500">
                <a:solidFill>
                  <a:srgbClr val="283446"/>
                </a:solidFill>
                <a:latin typeface="Aptos"/>
              </a:defRPr>
            </a:pPr>
            <a:r>
              <a:t>•  Number of duplicate rows removed (if any) and final dataset shape.</a:t>
            </a:r>
          </a:p>
          <a:p>
            <a:pPr>
              <a:spcAft>
                <a:spcPts val="700"/>
              </a:spcAft>
              <a:defRPr sz="1500">
                <a:solidFill>
                  <a:srgbClr val="283446"/>
                </a:solidFill>
                <a:latin typeface="Aptos"/>
              </a:defRPr>
            </a:pPr>
            <a:r>
              <a:t>•  Class distribution for Churn = Yes / No; use stratified splitting if imbalanced.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532120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650992"/>
            <a:ext cx="101498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Do not report that missing values or duplicates existed unless the CSV confirms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Statistical checks: normality and outliers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53312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99616"/>
            <a:ext cx="64008" cy="1216151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499616"/>
            <a:ext cx="48920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23A"/>
                </a:solidFill>
                <a:latin typeface="Aptos"/>
              </a:defRPr>
            </a:pPr>
            <a:r>
              <a:t>Normality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20240"/>
            <a:ext cx="489204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Plot histograms / KDE for numeric features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Use Q–Q plots as a visual check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Optional: Shapiro–Wilk on a suitable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53312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99616"/>
            <a:ext cx="64008" cy="1216151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499616"/>
            <a:ext cx="48920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23A"/>
                </a:solidFill>
                <a:latin typeface="Aptos"/>
              </a:defRPr>
            </a:pPr>
            <a:r>
              <a:t>How to interpret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20240"/>
            <a:ext cx="489204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Many business features are skewed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Normality is not required by tree models</a:t>
            </a:r>
          </a:p>
          <a:p>
            <a:pPr>
              <a:spcAft>
                <a:spcPts val="500"/>
              </a:spcAft>
              <a:defRPr sz="1300" b="0">
                <a:solidFill>
                  <a:srgbClr val="283446"/>
                </a:solidFill>
                <a:latin typeface="Aptos"/>
              </a:defRPr>
            </a:pPr>
            <a:r>
              <a:t>• Check distributions to guide scaling and outlier treatment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1060704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23A"/>
                </a:solidFill>
                <a:latin typeface="Aptos"/>
              </a:defRPr>
            </a:pPr>
            <a:r>
              <a:t>Recommended visualisations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03320"/>
            <a:ext cx="31546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813048"/>
            <a:ext cx="28346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Histogram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160520"/>
            <a:ext cx="2423160" cy="18288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3977639"/>
            <a:ext cx="18288" cy="685800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0" y="4389120"/>
            <a:ext cx="228600" cy="201168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00200" y="4178807"/>
            <a:ext cx="228600" cy="411480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920239" y="3950207"/>
            <a:ext cx="228600" cy="640080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40279" y="4087368"/>
            <a:ext cx="228600" cy="502920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560320" y="4279392"/>
            <a:ext cx="228600" cy="310896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80360" y="4425696"/>
            <a:ext cx="228600" cy="164592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4727448"/>
            <a:ext cx="28346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80"/>
                </a:solidFill>
                <a:latin typeface="Aptos"/>
              </a:defRPr>
            </a:pPr>
            <a:r>
              <a:t>Shape / skewness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703320"/>
            <a:ext cx="31546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90872" y="3813048"/>
            <a:ext cx="28346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Q–Q plot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4160520"/>
            <a:ext cx="2423160" cy="18288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0" y="3977639"/>
            <a:ext cx="18288" cy="685800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56632" y="4526280"/>
            <a:ext cx="64008" cy="64008"/>
          </a:xfrm>
          <a:prstGeom prst="ellipse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330952" y="4503866"/>
            <a:ext cx="64008" cy="64008"/>
          </a:xfrm>
          <a:prstGeom prst="ellipse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05272" y="4439007"/>
            <a:ext cx="64008" cy="64008"/>
          </a:xfrm>
          <a:prstGeom prst="ellipse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879592" y="4328282"/>
            <a:ext cx="64008" cy="64008"/>
          </a:xfrm>
          <a:prstGeom prst="ellipse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153912" y="4210438"/>
            <a:ext cx="64008" cy="64008"/>
          </a:xfrm>
          <a:prstGeom prst="ellipse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28232" y="4130769"/>
            <a:ext cx="64008" cy="64008"/>
          </a:xfrm>
          <a:prstGeom prst="ellipse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02552" y="4099470"/>
            <a:ext cx="64008" cy="64008"/>
          </a:xfrm>
          <a:prstGeom prst="ellipse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V="1">
            <a:off x="5029200" y="4069080"/>
            <a:ext cx="2057400" cy="502920"/>
          </a:xfrm>
          <a:prstGeom prst="line">
            <a:avLst/>
          </a:prstGeom>
          <a:ln w="19050">
            <a:solidFill>
              <a:srgbClr val="DE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90872" y="4727448"/>
            <a:ext cx="28346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80"/>
                </a:solidFill>
                <a:latin typeface="Aptos"/>
              </a:defRPr>
            </a:pPr>
            <a:r>
              <a:t>Deviation from normality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3703320"/>
            <a:ext cx="31546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39912" y="3813048"/>
            <a:ext cx="28346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Box plot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4160520"/>
            <a:ext cx="2423160" cy="18288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95360" y="3977639"/>
            <a:ext cx="18288" cy="685800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189720" y="4251960"/>
            <a:ext cx="1143000" cy="256032"/>
          </a:xfrm>
          <a:prstGeom prst="rect">
            <a:avLst/>
          </a:prstGeom>
          <a:solidFill>
            <a:srgbClr val="E7F0FA"/>
          </a:solidFill>
          <a:ln>
            <a:solidFill>
              <a:srgbClr val="ED9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89720" y="4142232"/>
            <a:ext cx="22860" cy="475488"/>
          </a:xfrm>
          <a:prstGeom prst="rect">
            <a:avLst/>
          </a:prstGeom>
          <a:solidFill>
            <a:srgbClr val="ED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332720" y="4142232"/>
            <a:ext cx="22860" cy="475488"/>
          </a:xfrm>
          <a:prstGeom prst="rect">
            <a:avLst/>
          </a:prstGeom>
          <a:solidFill>
            <a:srgbClr val="ED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692640" y="4251960"/>
            <a:ext cx="22860" cy="256032"/>
          </a:xfrm>
          <a:prstGeom prst="rect">
            <a:avLst/>
          </a:prstGeom>
          <a:solidFill>
            <a:srgbClr val="ED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39912" y="4727448"/>
            <a:ext cx="28346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F6C80"/>
                </a:solidFill>
                <a:latin typeface="Aptos"/>
              </a:defRPr>
            </a:pPr>
            <a:r>
              <a:t>Potential extreme values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413248"/>
            <a:ext cx="104241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35757"/>
                </a:solidFill>
                <a:latin typeface="Aptos"/>
              </a:defRPr>
            </a:pPr>
            <a:r>
              <a:t>Report which numeric features look skewed, which test/plot was used, and the observed result. The drawings above are schematic, not dataset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Outlier handling: justify the treatment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070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23A"/>
                </a:solidFill>
                <a:latin typeface="Aptos"/>
              </a:defRPr>
            </a:pPr>
            <a:r>
              <a:t>Use the IQR rule as a screening method for numeric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105613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100584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2A09A"/>
                </a:solidFill>
                <a:latin typeface="Aptos"/>
              </a:defRPr>
            </a:pPr>
            <a:r>
              <a:t>IQR = Q3 − Q1      |      Lower fence = Q1 − 1.5 × IQR      |      Upper fence = Q3 + 1.5 × IQR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6324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209544"/>
            <a:ext cx="64008" cy="1124712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3209544"/>
            <a:ext cx="297180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First: 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630168"/>
            <a:ext cx="29718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Check whether extreme values are data-entry errors or plausible high-value customers.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306324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6552" y="3209544"/>
            <a:ext cx="64008" cy="112471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3209544"/>
            <a:ext cx="297180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Then: 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30168"/>
            <a:ext cx="29718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Keep valid values; consider capping (winsorisation) only if justified.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306324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55864" y="3209544"/>
            <a:ext cx="64008" cy="1124712"/>
          </a:xfrm>
          <a:prstGeom prst="rect">
            <a:avLst/>
          </a:prstGeom>
          <a:solidFill>
            <a:srgbClr val="ED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2" y="3209544"/>
            <a:ext cx="297180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3630168"/>
            <a:ext cx="29718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State columns checked, number of outliers, and before/after impact.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469880" cy="685800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138928"/>
            <a:ext cx="10012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Do not automatically delete outliers: they may represent genuine customer behaviour.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Preprocessing: encoding, standardisation and normalisation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64008" cy="13075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517904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Categorical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1546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One-hot encode nominal features such as Contract and PaymentMethod. Encode the target separately as 0/1.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37160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517904"/>
            <a:ext cx="64008" cy="1307592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517904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Standardisation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38528"/>
            <a:ext cx="31546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StandardScaler: mean 0 and standard deviation 1. Useful for Logistic Regression, SVM and KNN.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371600"/>
            <a:ext cx="35204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10144" y="1517904"/>
            <a:ext cx="64008" cy="1307592"/>
          </a:xfrm>
          <a:prstGeom prst="rect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517904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Normalisation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1546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MinMaxScaler maps numeric values to [0, 1]. Use when bounded scale is useful; avoid applying both blindly.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05156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23A"/>
                </a:solidFill>
                <a:latin typeface="Aptos"/>
              </a:defRPr>
            </a:pPr>
            <a:r>
              <a:t>Model-specific decision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40480"/>
            <a:ext cx="2743200" cy="365760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3904488"/>
            <a:ext cx="2606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3840480"/>
            <a:ext cx="1920240" cy="365760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3904488"/>
            <a:ext cx="17830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Scaling?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79" y="3840480"/>
            <a:ext cx="5760720" cy="365760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3831" y="3904488"/>
            <a:ext cx="5623559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Reason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206240"/>
            <a:ext cx="27432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261104"/>
            <a:ext cx="2606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83446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206240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4261104"/>
            <a:ext cx="17830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83446"/>
                </a:solidFill>
                <a:latin typeface="Aptos"/>
              </a:defRPr>
            </a:pPr>
            <a:r>
              <a:t>Usually 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79" y="4206240"/>
            <a:ext cx="57607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13831" y="4261104"/>
            <a:ext cx="562355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83446"/>
                </a:solidFill>
                <a:latin typeface="Aptos"/>
              </a:defRPr>
            </a:pPr>
            <a:r>
              <a:t>Optimisation is more stable; coefficients are on comparable scales.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27432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4654296"/>
            <a:ext cx="2606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83446"/>
                </a:solidFill>
                <a:latin typeface="Aptos"/>
              </a:defRPr>
            </a:pPr>
            <a:r>
              <a:t>SVM / KNN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4599432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3592" y="4654296"/>
            <a:ext cx="17830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83446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79" y="4599432"/>
            <a:ext cx="57607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13831" y="4654296"/>
            <a:ext cx="562355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83446"/>
                </a:solidFill>
                <a:latin typeface="Aptos"/>
              </a:defRPr>
            </a:pPr>
            <a:r>
              <a:t>Distance or margin calculations are sensitive to feature scale.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992624"/>
            <a:ext cx="27432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" y="5047488"/>
            <a:ext cx="2606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83446"/>
                </a:solidFill>
                <a:latin typeface="Aptos"/>
              </a:defRPr>
            </a:pPr>
            <a:r>
              <a:t>Decision Tree / Random Forest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4992624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93592" y="5047488"/>
            <a:ext cx="17830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83446"/>
                </a:solidFill>
                <a:latin typeface="Aptos"/>
              </a:defRPr>
            </a:pPr>
            <a:r>
              <a:t>Usually not needed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79" y="4992624"/>
            <a:ext cx="57607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13831" y="5047488"/>
            <a:ext cx="562355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83446"/>
                </a:solidFill>
                <a:latin typeface="Aptos"/>
              </a:defRPr>
            </a:pPr>
            <a:r>
              <a:t>Tree splits depend on thresholds, not feature magnitudes.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385816"/>
            <a:ext cx="27432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2" y="5440680"/>
            <a:ext cx="2606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83446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20440" y="5385816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93592" y="5440680"/>
            <a:ext cx="17830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83446"/>
                </a:solidFill>
                <a:latin typeface="Aptos"/>
              </a:defRPr>
            </a:pPr>
            <a:r>
              <a:t>Usually not needed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40679" y="5385816"/>
            <a:ext cx="57607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13831" y="5440680"/>
            <a:ext cx="562355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283446"/>
                </a:solidFill>
                <a:latin typeface="Aptos"/>
              </a:defRPr>
            </a:pPr>
            <a:r>
              <a:t>Tree-based boosting is generally scale-insensitive.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Model building: compare classifiers fairly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63624"/>
            <a:ext cx="64008" cy="89611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30632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3063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Interpretable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563624"/>
            <a:ext cx="64008" cy="896112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563624"/>
            <a:ext cx="30632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984248"/>
            <a:ext cx="3063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Readable if–then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563624"/>
            <a:ext cx="64008" cy="896112"/>
          </a:xfrm>
          <a:prstGeom prst="rect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63624"/>
            <a:ext cx="30632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84248"/>
            <a:ext cx="3063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Ensemble reduces variance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98648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44952"/>
            <a:ext cx="64008" cy="896112"/>
          </a:xfrm>
          <a:prstGeom prst="rect">
            <a:avLst/>
          </a:prstGeom>
          <a:solidFill>
            <a:srgbClr val="ED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044952"/>
            <a:ext cx="30632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SVM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465576"/>
            <a:ext cx="3063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Strong margin-based classifier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898648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3044952"/>
            <a:ext cx="64008" cy="896112"/>
          </a:xfrm>
          <a:prstGeom prst="rect">
            <a:avLst/>
          </a:prstGeom>
          <a:solidFill>
            <a:srgbClr val="3A9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7" y="3044952"/>
            <a:ext cx="30632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3465576"/>
            <a:ext cx="3063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Similarity-based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2898648"/>
            <a:ext cx="34290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83879" y="3044952"/>
            <a:ext cx="64008" cy="896112"/>
          </a:xfrm>
          <a:prstGeom prst="rect">
            <a:avLst/>
          </a:prstGeom>
          <a:solidFill>
            <a:srgbClr val="D3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5048" y="3044952"/>
            <a:ext cx="30632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465576"/>
            <a:ext cx="3063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Boosted trees for complex patterns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754880"/>
            <a:ext cx="10515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23A"/>
                </a:solidFill>
                <a:latin typeface="Aptos"/>
              </a:defRPr>
            </a:pPr>
            <a:r>
              <a:t>Fair comparison protocol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38928"/>
            <a:ext cx="10424160" cy="868680"/>
          </a:xfrm>
          <a:prstGeom prst="rect">
            <a:avLst/>
          </a:prstGeom>
          <a:noFill/>
        </p:spPr>
        <p:txBody>
          <a:bodyPr wrap="none" lIns="45720" tIns="36576" rIns="45720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83446"/>
                </a:solidFill>
                <a:latin typeface="Aptos"/>
              </a:defRPr>
            </a:pPr>
            <a:r>
              <a:t>•  Use the same stratified train/test split for every model.</a:t>
            </a:r>
          </a:p>
          <a:p>
            <a:pPr>
              <a:spcAft>
                <a:spcPts val="700"/>
              </a:spcAft>
              <a:defRPr sz="1200">
                <a:solidFill>
                  <a:srgbClr val="283446"/>
                </a:solidFill>
                <a:latin typeface="Aptos"/>
              </a:defRPr>
            </a:pPr>
            <a:r>
              <a:t>•  Fit preprocessing only on training data (Pipeline / ColumnTransformer).</a:t>
            </a:r>
          </a:p>
          <a:p>
            <a:pPr>
              <a:spcAft>
                <a:spcPts val="700"/>
              </a:spcAft>
              <a:defRPr sz="1200">
                <a:solidFill>
                  <a:srgbClr val="283446"/>
                </a:solidFill>
                <a:latin typeface="Aptos"/>
              </a:defRPr>
            </a:pPr>
            <a:r>
              <a:t>•  Tune hyperparameters on training data with cross-validation; keep test set for final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MODEL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Evaluation metrics: accuracy is not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53312"/>
            <a:ext cx="10561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1472184"/>
            <a:ext cx="1600200" cy="402336"/>
          </a:xfrm>
          <a:prstGeom prst="round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1508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536192"/>
            <a:ext cx="8138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Overall fraction predicted correctly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94560"/>
            <a:ext cx="10561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41832" y="2313432"/>
            <a:ext cx="1600200" cy="402336"/>
          </a:xfrm>
          <a:prstGeom prst="round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395728"/>
            <a:ext cx="1508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377440"/>
            <a:ext cx="8138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Of predicted churners, how many truly churned?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35808"/>
            <a:ext cx="10561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1832" y="3154680"/>
            <a:ext cx="1600200" cy="402336"/>
          </a:xfrm>
          <a:prstGeom prst="roundRect">
            <a:avLst/>
          </a:prstGeom>
          <a:solidFill>
            <a:srgbClr val="ED9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236976"/>
            <a:ext cx="1508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218688"/>
            <a:ext cx="8138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Of actual churners, how many were detected?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77056"/>
            <a:ext cx="10561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41832" y="3995928"/>
            <a:ext cx="1600200" cy="402336"/>
          </a:xfrm>
          <a:prstGeom prst="roundRect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078224"/>
            <a:ext cx="1508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059936"/>
            <a:ext cx="8138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Balance between precision and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18304"/>
            <a:ext cx="1056132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1832" y="4837176"/>
            <a:ext cx="1600200" cy="402336"/>
          </a:xfrm>
          <a:prstGeom prst="roundRect">
            <a:avLst/>
          </a:prstGeom>
          <a:solidFill>
            <a:srgbClr val="3A9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4919472"/>
            <a:ext cx="150876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901184"/>
            <a:ext cx="8138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446"/>
                </a:solidFill>
                <a:latin typeface="Aptos"/>
              </a:defRPr>
            </a:pPr>
            <a:r>
              <a:t>Ability to rank churners above non-churners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23A"/>
                </a:solidFill>
                <a:latin typeface="Aptos"/>
              </a:defRPr>
            </a:pPr>
            <a:r>
              <a:t>For churn, recall and F1 are especially useful when missing a likely-to-leave customer is costly.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MODEL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Results: fill this table from your actual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515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D35757"/>
                </a:solidFill>
                <a:latin typeface="Aptos"/>
              </a:defRPr>
            </a:pPr>
            <a:r>
              <a:t>Do not present estimated or invented scores as experimental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743200" cy="438912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920240"/>
            <a:ext cx="2670048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1508760" cy="438912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920240"/>
            <a:ext cx="1435607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828800"/>
            <a:ext cx="1508760" cy="438912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0056" y="1920240"/>
            <a:ext cx="1435607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828800"/>
            <a:ext cx="1508760" cy="438912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8816" y="1920240"/>
            <a:ext cx="1435607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1508760" cy="438912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37575" y="1920240"/>
            <a:ext cx="1435607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828800"/>
            <a:ext cx="1508760" cy="438912"/>
          </a:xfrm>
          <a:prstGeom prst="rect">
            <a:avLst/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46336" y="1920240"/>
            <a:ext cx="1435607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26771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377440"/>
            <a:ext cx="2651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26771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0439" y="237744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226771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237744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26771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59" y="237744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26771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237744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226771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55480" y="237744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2743200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2852928"/>
            <a:ext cx="2651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2743200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20439" y="2852928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2743200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0" y="2852928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2743200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59" y="2852928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2743200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0" y="2852928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2743200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55480" y="2852928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321868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3328416"/>
            <a:ext cx="2651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218688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20439" y="3328416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83480" y="3218688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0" y="3328416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218688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37959" y="3328416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3218688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46720" y="3328416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218688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55480" y="3328416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369417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7240" y="3803904"/>
            <a:ext cx="2651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SVM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3694176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20439" y="3803904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3480" y="3694176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0" y="3803904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3694176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37959" y="3803904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01000" y="3694176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46720" y="3803904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09760" y="3694176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555480" y="3803904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4169664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4279392"/>
            <a:ext cx="2651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0" y="4169664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520439" y="4279392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83480" y="4169664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0" y="4279392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92240" y="4169664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537959" y="4279392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01000" y="4169664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46720" y="4279392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09760" y="4169664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555480" y="4279392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464515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77240" y="4754880"/>
            <a:ext cx="26517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83446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464515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520439" y="475488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83480" y="464515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29200" y="475488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92240" y="464515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537959" y="475488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01000" y="464515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046720" y="475488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509760" y="4645152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55480" y="4754880"/>
            <a:ext cx="1417319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83446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77240" y="5257800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E7F0FA"/>
          </a:solidFill>
          <a:ln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05840" y="5413248"/>
            <a:ext cx="100584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23A"/>
                </a:solidFill>
                <a:latin typeface="Aptos"/>
              </a:defRPr>
            </a:pPr>
            <a:r>
              <a:t>Best model: __________   |   Selection reason: compare recall, F1 and ROC-AUC alongside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MODEL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Findings, limitations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17904"/>
            <a:ext cx="64008" cy="1216151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17904"/>
            <a:ext cx="30632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Finding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38528"/>
            <a:ext cx="306324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Which features show the clearest relationship with churn?</a:t>
            </a:r>
          </a:p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[Insert EDA/model output]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17904"/>
            <a:ext cx="64008" cy="1216151"/>
          </a:xfrm>
          <a:prstGeom prst="rect">
            <a:avLst/>
          </a:prstGeom>
          <a:solidFill>
            <a:srgbClr val="49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17904"/>
            <a:ext cx="30632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Finding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38528"/>
            <a:ext cx="306324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Which model performed best, and on which metric?</a:t>
            </a:r>
          </a:p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[Insert measured scores]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517904"/>
            <a:ext cx="64008" cy="1216151"/>
          </a:xfrm>
          <a:prstGeom prst="rect">
            <a:avLst/>
          </a:prstGeom>
          <a:solidFill>
            <a:srgbClr val="857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517904"/>
            <a:ext cx="306324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Finding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938528"/>
            <a:ext cx="306324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What retention action could the business test?</a:t>
            </a:r>
          </a:p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[Link to evidence]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37560"/>
            <a:ext cx="10515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23A"/>
                </a:solidFill>
                <a:latin typeface="Aptos"/>
              </a:defRPr>
            </a:pPr>
            <a:r>
              <a:t>Limitations to acknowledge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30752"/>
            <a:ext cx="10241280" cy="1005840"/>
          </a:xfrm>
          <a:prstGeom prst="rect">
            <a:avLst/>
          </a:prstGeom>
          <a:noFill/>
        </p:spPr>
        <p:txBody>
          <a:bodyPr wrap="none" lIns="45720" tIns="36576" rIns="45720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83446"/>
                </a:solidFill>
                <a:latin typeface="Aptos"/>
              </a:defRPr>
            </a:pPr>
            <a:r>
              <a:t>•  Results depend on the dataset, feature quality, class balance and split strategy.</a:t>
            </a:r>
          </a:p>
          <a:p>
            <a:pPr>
              <a:spcAft>
                <a:spcPts val="700"/>
              </a:spcAft>
              <a:defRPr sz="1300">
                <a:solidFill>
                  <a:srgbClr val="283446"/>
                </a:solidFill>
                <a:latin typeface="Aptos"/>
              </a:defRPr>
            </a:pPr>
            <a:r>
              <a:t>•  Model associations do not automatically prove that a feature causes churn.</a:t>
            </a:r>
          </a:p>
          <a:p>
            <a:pPr>
              <a:spcAft>
                <a:spcPts val="700"/>
              </a:spcAft>
              <a:defRPr sz="1300">
                <a:solidFill>
                  <a:srgbClr val="283446"/>
                </a:solidFill>
                <a:latin typeface="Aptos"/>
              </a:defRPr>
            </a:pPr>
            <a:r>
              <a:t>•  Predictions should support—not replace—customer-retention judgement.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66360"/>
            <a:ext cx="10469880" cy="731520"/>
          </a:xfrm>
          <a:prstGeom prst="roundRect">
            <a:avLst>
              <a:gd name="adj" fmla="val 12000"/>
            </a:avLst>
          </a:prstGeom>
          <a:solidFill>
            <a:srgbClr val="14223A"/>
          </a:solidFill>
          <a:ln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340096"/>
            <a:ext cx="1001268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Conclusion: a reliable churn pipeline requires clean data, justified preprocessing, fair model comparison and transparent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7724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2A09A"/>
                </a:solidFill>
                <a:latin typeface="Aptos"/>
              </a:defRPr>
            </a:pPr>
            <a:r>
              <a:t>REVIEW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23A"/>
                </a:solidFill>
                <a:latin typeface="Aptos"/>
              </a:defRPr>
            </a:pPr>
            <a:r>
              <a:t>Code and outputs to bring for the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731520" cy="50292"/>
          </a:xfrm>
          <a:prstGeom prst="rect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5F6C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77724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KL UNIVERSITY  •  CSE  •  ENGINEERING CAPSTONE PROJECT –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53312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1481328"/>
            <a:ext cx="228600" cy="228600"/>
          </a:xfrm>
          <a:prstGeom prst="ellipse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1444752"/>
            <a:ext cx="2331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23A"/>
                </a:solidFill>
                <a:latin typeface="Aptos"/>
              </a:defRPr>
            </a:pPr>
            <a:r>
              <a:t>Data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44752"/>
            <a:ext cx="7315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df.head(), df.info(), df.dtypes, target 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84248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32688" y="2112264"/>
            <a:ext cx="228600" cy="228600"/>
          </a:xfrm>
          <a:prstGeom prst="ellipse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98448" y="2075688"/>
            <a:ext cx="2331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23A"/>
                </a:solidFill>
                <a:latin typeface="Aptos"/>
              </a:defRPr>
            </a:pPr>
            <a:r>
              <a:t>Data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75688"/>
            <a:ext cx="7315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Missing-value summary, duplicate count, final shape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15184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2688" y="2743200"/>
            <a:ext cx="228600" cy="228600"/>
          </a:xfrm>
          <a:prstGeom prst="ellipse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98448" y="2706624"/>
            <a:ext cx="2331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23A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06624"/>
            <a:ext cx="7315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Histograms / Q–Q plots, IQR outlier 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6120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374136"/>
            <a:ext cx="228600" cy="228600"/>
          </a:xfrm>
          <a:prstGeom prst="ellipse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3337560"/>
            <a:ext cx="2331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23A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337560"/>
            <a:ext cx="7315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Encoding/scaling pipeline; explain why each step is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77056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2688" y="4005072"/>
            <a:ext cx="228600" cy="228600"/>
          </a:xfrm>
          <a:prstGeom prst="ellipse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98448" y="3968496"/>
            <a:ext cx="2331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23A"/>
                </a:solidFill>
                <a:latin typeface="Aptos"/>
              </a:defRPr>
            </a:pPr>
            <a:r>
              <a:t>Model building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968496"/>
            <a:ext cx="7315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Train/test split, model training and parameter choices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07992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32688" y="4636007"/>
            <a:ext cx="228600" cy="228600"/>
          </a:xfrm>
          <a:prstGeom prst="ellipse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98448" y="4599431"/>
            <a:ext cx="2331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23A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599431"/>
            <a:ext cx="7315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Confusion matrix, classification report, ROC curve / AUC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138927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2688" y="5266943"/>
            <a:ext cx="228600" cy="228600"/>
          </a:xfrm>
          <a:prstGeom prst="ellipse">
            <a:avLst/>
          </a:prstGeom>
          <a:solidFill>
            <a:srgbClr val="22A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98448" y="5230367"/>
            <a:ext cx="2331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23A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230367"/>
            <a:ext cx="7315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446"/>
                </a:solidFill>
                <a:latin typeface="Aptos"/>
              </a:defRPr>
            </a:pPr>
            <a:r>
              <a:t>Notebook/script, dataset source, random_state and requirements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989320"/>
            <a:ext cx="104241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22A09A"/>
                </a:solidFill>
                <a:latin typeface="Aptos"/>
              </a:defRPr>
            </a:pPr>
            <a:r>
              <a:t>Every team member should be able to explain one stage and the output it produces.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77724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7DDD2"/>
                </a:solidFill>
                <a:latin typeface="Aptos"/>
              </a:defRPr>
            </a:pPr>
            <a:r>
              <a:t>CUSTOMER CHURN PREDICTION  | 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868680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Predict earlier.</a:t>
            </a:r>
          </a:p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Understand better.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8755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5E1F0"/>
                </a:solidFill>
                <a:latin typeface="Aptos"/>
              </a:defRPr>
            </a:pPr>
            <a:r>
              <a:t>Clean data  →  Statistical checks  →  Preprocessing  →  Model comparison  →  Evidence-based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68580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S. Vaishnavi  •  Madhu  •  Hema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Guide: Dr. Shivashri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4114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7DDD2"/>
                </a:solidFill>
                <a:latin typeface="Aptos"/>
              </a:defRPr>
            </a:pPr>
            <a:r>
              <a:t>THANK YOU  •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1518</Words>
  <Application>Microsoft Office PowerPoint</Application>
  <PresentationFormat>Widescreen</PresentationFormat>
  <Paragraphs>279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Vaishnavi</dc:creator>
  <cp:keywords/>
  <dc:description>generated using python-pptx</dc:description>
  <cp:lastModifiedBy>vaishnavi suryadevara</cp:lastModifiedBy>
  <cp:revision>2</cp:revision>
  <dcterms:created xsi:type="dcterms:W3CDTF">2013-01-27T09:14:16Z</dcterms:created>
  <dcterms:modified xsi:type="dcterms:W3CDTF">2026-10-16T05:00:12Z</dcterms:modified>
  <cp:category/>
</cp:coreProperties>
</file>